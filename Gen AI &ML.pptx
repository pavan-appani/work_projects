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61" r:id="rId3"/>
    <p:sldId id="260" r:id="rId4"/>
    <p:sldId id="262" r:id="rId5"/>
    <p:sldId id="263" r:id="rId6"/>
    <p:sldId id="264" r:id="rId7"/>
    <p:sldId id="268" r:id="rId8"/>
    <p:sldId id="270" r:id="rId9"/>
    <p:sldId id="271" r:id="rId10"/>
    <p:sldId id="272" r:id="rId11"/>
    <p:sldId id="273"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F7AB12-AE51-49EA-96B5-F7A9EDEE2216}" v="3" dt="2024-06-10T21:38:51.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 Achan" userId="533cbfd5a536d521" providerId="LiveId" clId="{7FF7AB12-AE51-49EA-96B5-F7A9EDEE2216}"/>
    <pc:docChg chg="undo custSel addSld modSld sldOrd">
      <pc:chgData name="akshay Achan" userId="533cbfd5a536d521" providerId="LiveId" clId="{7FF7AB12-AE51-49EA-96B5-F7A9EDEE2216}" dt="2024-06-10T21:40:48.240" v="89" actId="1076"/>
      <pc:docMkLst>
        <pc:docMk/>
      </pc:docMkLst>
      <pc:sldChg chg="add">
        <pc:chgData name="akshay Achan" userId="533cbfd5a536d521" providerId="LiveId" clId="{7FF7AB12-AE51-49EA-96B5-F7A9EDEE2216}" dt="2024-06-10T20:17:32.933" v="1"/>
        <pc:sldMkLst>
          <pc:docMk/>
          <pc:sldMk cId="38642380" sldId="260"/>
        </pc:sldMkLst>
      </pc:sldChg>
      <pc:sldChg chg="add">
        <pc:chgData name="akshay Achan" userId="533cbfd5a536d521" providerId="LiveId" clId="{7FF7AB12-AE51-49EA-96B5-F7A9EDEE2216}" dt="2024-06-10T20:17:32.933" v="1"/>
        <pc:sldMkLst>
          <pc:docMk/>
          <pc:sldMk cId="1338620088" sldId="261"/>
        </pc:sldMkLst>
      </pc:sldChg>
      <pc:sldChg chg="add">
        <pc:chgData name="akshay Achan" userId="533cbfd5a536d521" providerId="LiveId" clId="{7FF7AB12-AE51-49EA-96B5-F7A9EDEE2216}" dt="2024-06-10T20:17:32.933" v="1"/>
        <pc:sldMkLst>
          <pc:docMk/>
          <pc:sldMk cId="1330117000" sldId="262"/>
        </pc:sldMkLst>
      </pc:sldChg>
      <pc:sldChg chg="add">
        <pc:chgData name="akshay Achan" userId="533cbfd5a536d521" providerId="LiveId" clId="{7FF7AB12-AE51-49EA-96B5-F7A9EDEE2216}" dt="2024-06-10T20:17:32.933" v="1"/>
        <pc:sldMkLst>
          <pc:docMk/>
          <pc:sldMk cId="353063921" sldId="263"/>
        </pc:sldMkLst>
      </pc:sldChg>
      <pc:sldChg chg="add">
        <pc:chgData name="akshay Achan" userId="533cbfd5a536d521" providerId="LiveId" clId="{7FF7AB12-AE51-49EA-96B5-F7A9EDEE2216}" dt="2024-06-10T20:17:32.933" v="1"/>
        <pc:sldMkLst>
          <pc:docMk/>
          <pc:sldMk cId="1199082516" sldId="264"/>
        </pc:sldMkLst>
      </pc:sldChg>
      <pc:sldChg chg="modSp add mod">
        <pc:chgData name="akshay Achan" userId="533cbfd5a536d521" providerId="LiveId" clId="{7FF7AB12-AE51-49EA-96B5-F7A9EDEE2216}" dt="2024-06-10T21:40:35.192" v="88" actId="20577"/>
        <pc:sldMkLst>
          <pc:docMk/>
          <pc:sldMk cId="1719847438" sldId="268"/>
        </pc:sldMkLst>
        <pc:spChg chg="mod">
          <ac:chgData name="akshay Achan" userId="533cbfd5a536d521" providerId="LiveId" clId="{7FF7AB12-AE51-49EA-96B5-F7A9EDEE2216}" dt="2024-06-10T21:40:35.192" v="88" actId="20577"/>
          <ac:spMkLst>
            <pc:docMk/>
            <pc:sldMk cId="1719847438" sldId="268"/>
            <ac:spMk id="2" creationId="{8915E153-0C1F-03E0-4A30-1F6E5C83CC29}"/>
          </ac:spMkLst>
        </pc:spChg>
      </pc:sldChg>
      <pc:sldChg chg="add">
        <pc:chgData name="akshay Achan" userId="533cbfd5a536d521" providerId="LiveId" clId="{7FF7AB12-AE51-49EA-96B5-F7A9EDEE2216}" dt="2024-06-10T20:17:32.933" v="1"/>
        <pc:sldMkLst>
          <pc:docMk/>
          <pc:sldMk cId="4279508250" sldId="270"/>
        </pc:sldMkLst>
      </pc:sldChg>
      <pc:sldChg chg="add">
        <pc:chgData name="akshay Achan" userId="533cbfd5a536d521" providerId="LiveId" clId="{7FF7AB12-AE51-49EA-96B5-F7A9EDEE2216}" dt="2024-06-10T20:17:32.933" v="1"/>
        <pc:sldMkLst>
          <pc:docMk/>
          <pc:sldMk cId="2183583308" sldId="271"/>
        </pc:sldMkLst>
      </pc:sldChg>
      <pc:sldChg chg="add">
        <pc:chgData name="akshay Achan" userId="533cbfd5a536d521" providerId="LiveId" clId="{7FF7AB12-AE51-49EA-96B5-F7A9EDEE2216}" dt="2024-06-10T20:17:32.933" v="1"/>
        <pc:sldMkLst>
          <pc:docMk/>
          <pc:sldMk cId="1330197292" sldId="272"/>
        </pc:sldMkLst>
      </pc:sldChg>
      <pc:sldChg chg="modSp add mod">
        <pc:chgData name="akshay Achan" userId="533cbfd5a536d521" providerId="LiveId" clId="{7FF7AB12-AE51-49EA-96B5-F7A9EDEE2216}" dt="2024-06-10T21:40:48.240" v="89" actId="1076"/>
        <pc:sldMkLst>
          <pc:docMk/>
          <pc:sldMk cId="764361074" sldId="273"/>
        </pc:sldMkLst>
        <pc:spChg chg="mod">
          <ac:chgData name="akshay Achan" userId="533cbfd5a536d521" providerId="LiveId" clId="{7FF7AB12-AE51-49EA-96B5-F7A9EDEE2216}" dt="2024-06-10T21:40:48.240" v="89" actId="1076"/>
          <ac:spMkLst>
            <pc:docMk/>
            <pc:sldMk cId="764361074" sldId="273"/>
            <ac:spMk id="2" creationId="{DBBA0A4D-ECE2-14D2-B7FD-1BD339698477}"/>
          </ac:spMkLst>
        </pc:spChg>
      </pc:sldChg>
      <pc:sldChg chg="delSp add setBg delDesignElem">
        <pc:chgData name="akshay Achan" userId="533cbfd5a536d521" providerId="LiveId" clId="{7FF7AB12-AE51-49EA-96B5-F7A9EDEE2216}" dt="2024-06-10T20:17:32.933" v="1"/>
        <pc:sldMkLst>
          <pc:docMk/>
          <pc:sldMk cId="3892367383" sldId="274"/>
        </pc:sldMkLst>
        <pc:spChg chg="del">
          <ac:chgData name="akshay Achan" userId="533cbfd5a536d521" providerId="LiveId" clId="{7FF7AB12-AE51-49EA-96B5-F7A9EDEE2216}" dt="2024-06-10T20:17:32.933" v="1"/>
          <ac:spMkLst>
            <pc:docMk/>
            <pc:sldMk cId="3892367383" sldId="274"/>
            <ac:spMk id="8" creationId="{63644BFD-D22E-4019-B666-387DA51AEAFD}"/>
          </ac:spMkLst>
        </pc:spChg>
        <pc:spChg chg="del">
          <ac:chgData name="akshay Achan" userId="533cbfd5a536d521" providerId="LiveId" clId="{7FF7AB12-AE51-49EA-96B5-F7A9EDEE2216}" dt="2024-06-10T20:17:32.933" v="1"/>
          <ac:spMkLst>
            <pc:docMk/>
            <pc:sldMk cId="3892367383" sldId="274"/>
            <ac:spMk id="14" creationId="{3776B14B-F2F4-4825-8DA8-8C7A0F2B3960}"/>
          </ac:spMkLst>
        </pc:spChg>
        <pc:grpChg chg="del">
          <ac:chgData name="akshay Achan" userId="533cbfd5a536d521" providerId="LiveId" clId="{7FF7AB12-AE51-49EA-96B5-F7A9EDEE2216}" dt="2024-06-10T20:17:32.933" v="1"/>
          <ac:grpSpMkLst>
            <pc:docMk/>
            <pc:sldMk cId="3892367383" sldId="274"/>
            <ac:grpSpMk id="10" creationId="{5FE9FE4C-C9E0-4C54-8010-EA9D29CD4D59}"/>
          </ac:grpSpMkLst>
        </pc:grpChg>
      </pc:sldChg>
      <pc:sldChg chg="addSp delSp modSp new mod ord setBg">
        <pc:chgData name="akshay Achan" userId="533cbfd5a536d521" providerId="LiveId" clId="{7FF7AB12-AE51-49EA-96B5-F7A9EDEE2216}" dt="2024-06-10T21:39:51.850" v="63" actId="26606"/>
        <pc:sldMkLst>
          <pc:docMk/>
          <pc:sldMk cId="1878730634" sldId="275"/>
        </pc:sldMkLst>
        <pc:spChg chg="mod">
          <ac:chgData name="akshay Achan" userId="533cbfd5a536d521" providerId="LiveId" clId="{7FF7AB12-AE51-49EA-96B5-F7A9EDEE2216}" dt="2024-06-10T21:39:51.850" v="63" actId="26606"/>
          <ac:spMkLst>
            <pc:docMk/>
            <pc:sldMk cId="1878730634" sldId="275"/>
            <ac:spMk id="2" creationId="{003781C2-D2FC-17FC-3971-EB677E00498E}"/>
          </ac:spMkLst>
        </pc:spChg>
        <pc:spChg chg="mod ord">
          <ac:chgData name="akshay Achan" userId="533cbfd5a536d521" providerId="LiveId" clId="{7FF7AB12-AE51-49EA-96B5-F7A9EDEE2216}" dt="2024-06-10T21:39:51.850" v="63" actId="26606"/>
          <ac:spMkLst>
            <pc:docMk/>
            <pc:sldMk cId="1878730634" sldId="275"/>
            <ac:spMk id="3" creationId="{21F8F5A1-B158-A1BE-B174-10DA757A721D}"/>
          </ac:spMkLst>
        </pc:spChg>
        <pc:spChg chg="add del">
          <ac:chgData name="akshay Achan" userId="533cbfd5a536d521" providerId="LiveId" clId="{7FF7AB12-AE51-49EA-96B5-F7A9EDEE2216}" dt="2024-06-10T21:39:47.961" v="60" actId="26606"/>
          <ac:spMkLst>
            <pc:docMk/>
            <pc:sldMk cId="1878730634" sldId="275"/>
            <ac:spMk id="10" creationId="{0671A8AE-40A1-4631-A6B8-581AFF065482}"/>
          </ac:spMkLst>
        </pc:spChg>
        <pc:spChg chg="add del">
          <ac:chgData name="akshay Achan" userId="533cbfd5a536d521" providerId="LiveId" clId="{7FF7AB12-AE51-49EA-96B5-F7A9EDEE2216}" dt="2024-06-10T21:39:47.961" v="60" actId="26606"/>
          <ac:spMkLst>
            <pc:docMk/>
            <pc:sldMk cId="1878730634" sldId="275"/>
            <ac:spMk id="12" creationId="{AB58EF07-17C2-48CF-ABB0-EEF1F17CB8F0}"/>
          </ac:spMkLst>
        </pc:spChg>
        <pc:spChg chg="add del">
          <ac:chgData name="akshay Achan" userId="533cbfd5a536d521" providerId="LiveId" clId="{7FF7AB12-AE51-49EA-96B5-F7A9EDEE2216}" dt="2024-06-10T21:39:47.961" v="60" actId="26606"/>
          <ac:spMkLst>
            <pc:docMk/>
            <pc:sldMk cId="1878730634" sldId="275"/>
            <ac:spMk id="14" creationId="{AF2F604E-43BE-4DC3-B983-E071523364F8}"/>
          </ac:spMkLst>
        </pc:spChg>
        <pc:spChg chg="add del">
          <ac:chgData name="akshay Achan" userId="533cbfd5a536d521" providerId="LiveId" clId="{7FF7AB12-AE51-49EA-96B5-F7A9EDEE2216}" dt="2024-06-10T21:39:47.961" v="60" actId="26606"/>
          <ac:spMkLst>
            <pc:docMk/>
            <pc:sldMk cId="1878730634" sldId="275"/>
            <ac:spMk id="16" creationId="{08C9B587-E65E-4B52-B37C-ABEBB6E87928}"/>
          </ac:spMkLst>
        </pc:spChg>
        <pc:spChg chg="add del">
          <ac:chgData name="akshay Achan" userId="533cbfd5a536d521" providerId="LiveId" clId="{7FF7AB12-AE51-49EA-96B5-F7A9EDEE2216}" dt="2024-06-10T21:39:51.836" v="62" actId="26606"/>
          <ac:spMkLst>
            <pc:docMk/>
            <pc:sldMk cId="1878730634" sldId="275"/>
            <ac:spMk id="18" creationId="{870A1295-61BC-4214-AA3E-D396673024D0}"/>
          </ac:spMkLst>
        </pc:spChg>
        <pc:spChg chg="add">
          <ac:chgData name="akshay Achan" userId="533cbfd5a536d521" providerId="LiveId" clId="{7FF7AB12-AE51-49EA-96B5-F7A9EDEE2216}" dt="2024-06-10T21:39:51.850" v="63" actId="26606"/>
          <ac:spMkLst>
            <pc:docMk/>
            <pc:sldMk cId="1878730634" sldId="275"/>
            <ac:spMk id="23" creationId="{0671A8AE-40A1-4631-A6B8-581AFF065482}"/>
          </ac:spMkLst>
        </pc:spChg>
        <pc:spChg chg="add">
          <ac:chgData name="akshay Achan" userId="533cbfd5a536d521" providerId="LiveId" clId="{7FF7AB12-AE51-49EA-96B5-F7A9EDEE2216}" dt="2024-06-10T21:39:51.850" v="63" actId="26606"/>
          <ac:spMkLst>
            <pc:docMk/>
            <pc:sldMk cId="1878730634" sldId="275"/>
            <ac:spMk id="24" creationId="{AB58EF07-17C2-48CF-ABB0-EEF1F17CB8F0}"/>
          </ac:spMkLst>
        </pc:spChg>
        <pc:spChg chg="add">
          <ac:chgData name="akshay Achan" userId="533cbfd5a536d521" providerId="LiveId" clId="{7FF7AB12-AE51-49EA-96B5-F7A9EDEE2216}" dt="2024-06-10T21:39:51.850" v="63" actId="26606"/>
          <ac:spMkLst>
            <pc:docMk/>
            <pc:sldMk cId="1878730634" sldId="275"/>
            <ac:spMk id="25" creationId="{AF2F604E-43BE-4DC3-B983-E071523364F8}"/>
          </ac:spMkLst>
        </pc:spChg>
        <pc:spChg chg="add">
          <ac:chgData name="akshay Achan" userId="533cbfd5a536d521" providerId="LiveId" clId="{7FF7AB12-AE51-49EA-96B5-F7A9EDEE2216}" dt="2024-06-10T21:39:51.850" v="63" actId="26606"/>
          <ac:spMkLst>
            <pc:docMk/>
            <pc:sldMk cId="1878730634" sldId="275"/>
            <ac:spMk id="26" creationId="{08C9B587-E65E-4B52-B37C-ABEBB6E87928}"/>
          </ac:spMkLst>
        </pc:spChg>
        <pc:grpChg chg="add del">
          <ac:chgData name="akshay Achan" userId="533cbfd5a536d521" providerId="LiveId" clId="{7FF7AB12-AE51-49EA-96B5-F7A9EDEE2216}" dt="2024-06-10T21:39:51.836" v="62" actId="26606"/>
          <ac:grpSpMkLst>
            <pc:docMk/>
            <pc:sldMk cId="1878730634" sldId="275"/>
            <ac:grpSpMk id="19" creationId="{0B139475-2B26-4CA9-9413-DE741E49F7BB}"/>
          </ac:grpSpMkLst>
        </pc:grpChg>
        <pc:picChg chg="add mod ord">
          <ac:chgData name="akshay Achan" userId="533cbfd5a536d521" providerId="LiveId" clId="{7FF7AB12-AE51-49EA-96B5-F7A9EDEE2216}" dt="2024-06-10T21:39:51.850" v="63" actId="26606"/>
          <ac:picMkLst>
            <pc:docMk/>
            <pc:sldMk cId="1878730634" sldId="275"/>
            <ac:picMk id="5" creationId="{3AFD3CF6-62A8-55E4-FF35-3C8F1550568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AC8AC1-A8DD-4EC1-A10F-75E6C34E16B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9DDEC1AE-F676-4A9E-BF09-62F6E8DB854F}">
      <dgm:prSet/>
      <dgm:spPr/>
      <dgm:t>
        <a:bodyPr/>
        <a:lstStyle/>
        <a:p>
          <a:pPr>
            <a:lnSpc>
              <a:spcPct val="100000"/>
            </a:lnSpc>
            <a:defRPr cap="all"/>
          </a:pPr>
          <a:r>
            <a:rPr lang="en-US" b="1" i="0" baseline="0"/>
            <a:t>The generative AI journey </a:t>
          </a:r>
          <a:endParaRPr lang="en-US"/>
        </a:p>
      </dgm:t>
    </dgm:pt>
    <dgm:pt modelId="{9AFE26E9-A16D-4D22-8887-DB6FA363F9D2}" type="parTrans" cxnId="{53F64396-8B9F-4AC3-9715-2AD6D1C181BD}">
      <dgm:prSet/>
      <dgm:spPr/>
      <dgm:t>
        <a:bodyPr/>
        <a:lstStyle/>
        <a:p>
          <a:endParaRPr lang="en-US"/>
        </a:p>
      </dgm:t>
    </dgm:pt>
    <dgm:pt modelId="{5E823633-6A7E-42CE-AF6A-EEE29DB012BB}" type="sibTrans" cxnId="{53F64396-8B9F-4AC3-9715-2AD6D1C181BD}">
      <dgm:prSet/>
      <dgm:spPr/>
      <dgm:t>
        <a:bodyPr/>
        <a:lstStyle/>
        <a:p>
          <a:endParaRPr lang="en-US"/>
        </a:p>
      </dgm:t>
    </dgm:pt>
    <dgm:pt modelId="{CC356612-C6AF-4025-94CB-E89ADA068825}">
      <dgm:prSet/>
      <dgm:spPr/>
      <dgm:t>
        <a:bodyPr/>
        <a:lstStyle/>
        <a:p>
          <a:pPr>
            <a:lnSpc>
              <a:spcPct val="100000"/>
            </a:lnSpc>
            <a:defRPr cap="all"/>
          </a:pPr>
          <a:r>
            <a:rPr lang="en-US" b="0" i="0" baseline="0"/>
            <a:t>The generative AI journey is not necessarily a straightforward path. </a:t>
          </a:r>
          <a:endParaRPr lang="en-US"/>
        </a:p>
      </dgm:t>
    </dgm:pt>
    <dgm:pt modelId="{13E2368E-C205-492C-9809-3D39F62CDE79}" type="parTrans" cxnId="{7BCE00BC-E846-49B6-978C-95BC15B5D149}">
      <dgm:prSet/>
      <dgm:spPr/>
      <dgm:t>
        <a:bodyPr/>
        <a:lstStyle/>
        <a:p>
          <a:endParaRPr lang="en-US"/>
        </a:p>
      </dgm:t>
    </dgm:pt>
    <dgm:pt modelId="{0AC59199-A371-4B2B-912A-8BD615ADBE38}" type="sibTrans" cxnId="{7BCE00BC-E846-49B6-978C-95BC15B5D149}">
      <dgm:prSet/>
      <dgm:spPr/>
      <dgm:t>
        <a:bodyPr/>
        <a:lstStyle/>
        <a:p>
          <a:endParaRPr lang="en-US"/>
        </a:p>
      </dgm:t>
    </dgm:pt>
    <dgm:pt modelId="{7DEE101A-B6A9-45C6-84BE-CBDE662204A9}">
      <dgm:prSet/>
      <dgm:spPr/>
      <dgm:t>
        <a:bodyPr/>
        <a:lstStyle/>
        <a:p>
          <a:pPr>
            <a:lnSpc>
              <a:spcPct val="100000"/>
            </a:lnSpc>
            <a:defRPr cap="all"/>
          </a:pPr>
          <a:r>
            <a:rPr lang="en-US" b="0" i="0" baseline="0"/>
            <a:t>Achieving success with generative AI requires more than great technology—it also means ensuring the organization is aligned to the right goals. </a:t>
          </a:r>
          <a:endParaRPr lang="en-US"/>
        </a:p>
      </dgm:t>
    </dgm:pt>
    <dgm:pt modelId="{082E9AC2-2EE9-431C-988D-F3BA9AA290F4}" type="parTrans" cxnId="{66730172-B918-465D-9A35-B5C14B0E58E6}">
      <dgm:prSet/>
      <dgm:spPr/>
      <dgm:t>
        <a:bodyPr/>
        <a:lstStyle/>
        <a:p>
          <a:endParaRPr lang="en-US"/>
        </a:p>
      </dgm:t>
    </dgm:pt>
    <dgm:pt modelId="{8AF70B23-AD61-4F15-9417-940466D0D4F6}" type="sibTrans" cxnId="{66730172-B918-465D-9A35-B5C14B0E58E6}">
      <dgm:prSet/>
      <dgm:spPr/>
      <dgm:t>
        <a:bodyPr/>
        <a:lstStyle/>
        <a:p>
          <a:endParaRPr lang="en-US"/>
        </a:p>
      </dgm:t>
    </dgm:pt>
    <dgm:pt modelId="{4F983ECF-7137-4391-A00B-362325CFD5CD}">
      <dgm:prSet/>
      <dgm:spPr/>
      <dgm:t>
        <a:bodyPr/>
        <a:lstStyle/>
        <a:p>
          <a:pPr>
            <a:lnSpc>
              <a:spcPct val="100000"/>
            </a:lnSpc>
            <a:defRPr cap="all"/>
          </a:pPr>
          <a:r>
            <a:rPr lang="en-US" b="0" i="0" baseline="0"/>
            <a:t>Identifying and reaching those goals will necessitate broad changes in processes, management, and culture. The next sections will explore how organizations can overcome common challenges that often impede progress and take the right steps to implement </a:t>
          </a:r>
          <a:endParaRPr lang="en-US"/>
        </a:p>
      </dgm:t>
    </dgm:pt>
    <dgm:pt modelId="{B6996232-F72F-4618-83DA-E18D14EDBBF0}" type="parTrans" cxnId="{3540C5E1-5F5A-4A92-9577-5CA1409FA04F}">
      <dgm:prSet/>
      <dgm:spPr/>
      <dgm:t>
        <a:bodyPr/>
        <a:lstStyle/>
        <a:p>
          <a:endParaRPr lang="en-US"/>
        </a:p>
      </dgm:t>
    </dgm:pt>
    <dgm:pt modelId="{E3543500-2071-4A78-BBF8-9C051FAC6200}" type="sibTrans" cxnId="{3540C5E1-5F5A-4A92-9577-5CA1409FA04F}">
      <dgm:prSet/>
      <dgm:spPr/>
      <dgm:t>
        <a:bodyPr/>
        <a:lstStyle/>
        <a:p>
          <a:endParaRPr lang="en-US"/>
        </a:p>
      </dgm:t>
    </dgm:pt>
    <dgm:pt modelId="{ECDD4944-04E1-439B-868E-4E1E181A69C0}" type="pres">
      <dgm:prSet presAssocID="{36AC8AC1-A8DD-4EC1-A10F-75E6C34E16B2}" presName="Name0" presStyleCnt="0">
        <dgm:presLayoutVars>
          <dgm:dir/>
          <dgm:resizeHandles val="exact"/>
        </dgm:presLayoutVars>
      </dgm:prSet>
      <dgm:spPr/>
    </dgm:pt>
    <dgm:pt modelId="{B63D99FD-5469-49A2-AF3F-6047AEBE8228}" type="pres">
      <dgm:prSet presAssocID="{9DDEC1AE-F676-4A9E-BF09-62F6E8DB854F}" presName="node" presStyleLbl="node1" presStyleIdx="0" presStyleCnt="4">
        <dgm:presLayoutVars>
          <dgm:bulletEnabled val="1"/>
        </dgm:presLayoutVars>
      </dgm:prSet>
      <dgm:spPr/>
    </dgm:pt>
    <dgm:pt modelId="{63C7A3C7-DC15-4818-B93A-5CD4061D2327}" type="pres">
      <dgm:prSet presAssocID="{5E823633-6A7E-42CE-AF6A-EEE29DB012BB}" presName="sibTrans" presStyleLbl="sibTrans2D1" presStyleIdx="0" presStyleCnt="3"/>
      <dgm:spPr/>
    </dgm:pt>
    <dgm:pt modelId="{9A4262CE-EC0B-463B-8EF5-FCDECE50DE51}" type="pres">
      <dgm:prSet presAssocID="{5E823633-6A7E-42CE-AF6A-EEE29DB012BB}" presName="connectorText" presStyleLbl="sibTrans2D1" presStyleIdx="0" presStyleCnt="3"/>
      <dgm:spPr/>
    </dgm:pt>
    <dgm:pt modelId="{E73FC3B7-713E-4A62-A7E5-C4DFAC1C6876}" type="pres">
      <dgm:prSet presAssocID="{CC356612-C6AF-4025-94CB-E89ADA068825}" presName="node" presStyleLbl="node1" presStyleIdx="1" presStyleCnt="4">
        <dgm:presLayoutVars>
          <dgm:bulletEnabled val="1"/>
        </dgm:presLayoutVars>
      </dgm:prSet>
      <dgm:spPr/>
    </dgm:pt>
    <dgm:pt modelId="{364828EA-BDD2-481E-98E1-37594AEA0D2C}" type="pres">
      <dgm:prSet presAssocID="{0AC59199-A371-4B2B-912A-8BD615ADBE38}" presName="sibTrans" presStyleLbl="sibTrans2D1" presStyleIdx="1" presStyleCnt="3"/>
      <dgm:spPr/>
    </dgm:pt>
    <dgm:pt modelId="{268F1CAB-7084-4119-A347-754C49778CDC}" type="pres">
      <dgm:prSet presAssocID="{0AC59199-A371-4B2B-912A-8BD615ADBE38}" presName="connectorText" presStyleLbl="sibTrans2D1" presStyleIdx="1" presStyleCnt="3"/>
      <dgm:spPr/>
    </dgm:pt>
    <dgm:pt modelId="{43F1CFF9-CE08-45B6-ADD1-9095D1B0A971}" type="pres">
      <dgm:prSet presAssocID="{7DEE101A-B6A9-45C6-84BE-CBDE662204A9}" presName="node" presStyleLbl="node1" presStyleIdx="2" presStyleCnt="4">
        <dgm:presLayoutVars>
          <dgm:bulletEnabled val="1"/>
        </dgm:presLayoutVars>
      </dgm:prSet>
      <dgm:spPr/>
    </dgm:pt>
    <dgm:pt modelId="{AA1973D7-8182-47AA-9AFD-D8E48FCDAD99}" type="pres">
      <dgm:prSet presAssocID="{8AF70B23-AD61-4F15-9417-940466D0D4F6}" presName="sibTrans" presStyleLbl="sibTrans2D1" presStyleIdx="2" presStyleCnt="3"/>
      <dgm:spPr/>
    </dgm:pt>
    <dgm:pt modelId="{F6F10FDC-9A32-4885-948F-AFF6EF270FE7}" type="pres">
      <dgm:prSet presAssocID="{8AF70B23-AD61-4F15-9417-940466D0D4F6}" presName="connectorText" presStyleLbl="sibTrans2D1" presStyleIdx="2" presStyleCnt="3"/>
      <dgm:spPr/>
    </dgm:pt>
    <dgm:pt modelId="{707771B7-A39D-4352-99A5-2D7B8FD862BA}" type="pres">
      <dgm:prSet presAssocID="{4F983ECF-7137-4391-A00B-362325CFD5CD}" presName="node" presStyleLbl="node1" presStyleIdx="3" presStyleCnt="4">
        <dgm:presLayoutVars>
          <dgm:bulletEnabled val="1"/>
        </dgm:presLayoutVars>
      </dgm:prSet>
      <dgm:spPr/>
    </dgm:pt>
  </dgm:ptLst>
  <dgm:cxnLst>
    <dgm:cxn modelId="{88259A1C-CB3D-48FD-9FA0-ACA0B0BDF207}" type="presOf" srcId="{CC356612-C6AF-4025-94CB-E89ADA068825}" destId="{E73FC3B7-713E-4A62-A7E5-C4DFAC1C6876}" srcOrd="0" destOrd="0" presId="urn:microsoft.com/office/officeart/2005/8/layout/process1"/>
    <dgm:cxn modelId="{8FDB8138-3615-45F5-A847-4580E9A1BD24}" type="presOf" srcId="{0AC59199-A371-4B2B-912A-8BD615ADBE38}" destId="{268F1CAB-7084-4119-A347-754C49778CDC}" srcOrd="1" destOrd="0" presId="urn:microsoft.com/office/officeart/2005/8/layout/process1"/>
    <dgm:cxn modelId="{66730172-B918-465D-9A35-B5C14B0E58E6}" srcId="{36AC8AC1-A8DD-4EC1-A10F-75E6C34E16B2}" destId="{7DEE101A-B6A9-45C6-84BE-CBDE662204A9}" srcOrd="2" destOrd="0" parTransId="{082E9AC2-2EE9-431C-988D-F3BA9AA290F4}" sibTransId="{8AF70B23-AD61-4F15-9417-940466D0D4F6}"/>
    <dgm:cxn modelId="{B1B3DA77-6269-4070-BA29-8105302EBCF1}" type="presOf" srcId="{8AF70B23-AD61-4F15-9417-940466D0D4F6}" destId="{AA1973D7-8182-47AA-9AFD-D8E48FCDAD99}" srcOrd="0" destOrd="0" presId="urn:microsoft.com/office/officeart/2005/8/layout/process1"/>
    <dgm:cxn modelId="{FB3D0B59-7547-4FEE-81DC-BBB775A3B822}" type="presOf" srcId="{0AC59199-A371-4B2B-912A-8BD615ADBE38}" destId="{364828EA-BDD2-481E-98E1-37594AEA0D2C}" srcOrd="0" destOrd="0" presId="urn:microsoft.com/office/officeart/2005/8/layout/process1"/>
    <dgm:cxn modelId="{51A6147A-1692-4E96-B8C4-AC37A446DCBC}" type="presOf" srcId="{7DEE101A-B6A9-45C6-84BE-CBDE662204A9}" destId="{43F1CFF9-CE08-45B6-ADD1-9095D1B0A971}" srcOrd="0" destOrd="0" presId="urn:microsoft.com/office/officeart/2005/8/layout/process1"/>
    <dgm:cxn modelId="{53F64396-8B9F-4AC3-9715-2AD6D1C181BD}" srcId="{36AC8AC1-A8DD-4EC1-A10F-75E6C34E16B2}" destId="{9DDEC1AE-F676-4A9E-BF09-62F6E8DB854F}" srcOrd="0" destOrd="0" parTransId="{9AFE26E9-A16D-4D22-8887-DB6FA363F9D2}" sibTransId="{5E823633-6A7E-42CE-AF6A-EEE29DB012BB}"/>
    <dgm:cxn modelId="{F4FFD3A3-29E4-49F6-87CA-778097E35A18}" type="presOf" srcId="{9DDEC1AE-F676-4A9E-BF09-62F6E8DB854F}" destId="{B63D99FD-5469-49A2-AF3F-6047AEBE8228}" srcOrd="0" destOrd="0" presId="urn:microsoft.com/office/officeart/2005/8/layout/process1"/>
    <dgm:cxn modelId="{7BCE00BC-E846-49B6-978C-95BC15B5D149}" srcId="{36AC8AC1-A8DD-4EC1-A10F-75E6C34E16B2}" destId="{CC356612-C6AF-4025-94CB-E89ADA068825}" srcOrd="1" destOrd="0" parTransId="{13E2368E-C205-492C-9809-3D39F62CDE79}" sibTransId="{0AC59199-A371-4B2B-912A-8BD615ADBE38}"/>
    <dgm:cxn modelId="{71496FC0-3688-49F7-8AEB-036B90CF53D7}" type="presOf" srcId="{5E823633-6A7E-42CE-AF6A-EEE29DB012BB}" destId="{63C7A3C7-DC15-4818-B93A-5CD4061D2327}" srcOrd="0" destOrd="0" presId="urn:microsoft.com/office/officeart/2005/8/layout/process1"/>
    <dgm:cxn modelId="{C95C37D2-9F2D-4507-A7B0-EEC4BF0CDC8C}" type="presOf" srcId="{8AF70B23-AD61-4F15-9417-940466D0D4F6}" destId="{F6F10FDC-9A32-4885-948F-AFF6EF270FE7}" srcOrd="1" destOrd="0" presId="urn:microsoft.com/office/officeart/2005/8/layout/process1"/>
    <dgm:cxn modelId="{D1CD9CD6-F054-4A50-831B-4B2534D55391}" type="presOf" srcId="{4F983ECF-7137-4391-A00B-362325CFD5CD}" destId="{707771B7-A39D-4352-99A5-2D7B8FD862BA}" srcOrd="0" destOrd="0" presId="urn:microsoft.com/office/officeart/2005/8/layout/process1"/>
    <dgm:cxn modelId="{3540C5E1-5F5A-4A92-9577-5CA1409FA04F}" srcId="{36AC8AC1-A8DD-4EC1-A10F-75E6C34E16B2}" destId="{4F983ECF-7137-4391-A00B-362325CFD5CD}" srcOrd="3" destOrd="0" parTransId="{B6996232-F72F-4618-83DA-E18D14EDBBF0}" sibTransId="{E3543500-2071-4A78-BBF8-9C051FAC6200}"/>
    <dgm:cxn modelId="{B944ABEB-911B-46E0-8143-7E19F97B6475}" type="presOf" srcId="{36AC8AC1-A8DD-4EC1-A10F-75E6C34E16B2}" destId="{ECDD4944-04E1-439B-868E-4E1E181A69C0}" srcOrd="0" destOrd="0" presId="urn:microsoft.com/office/officeart/2005/8/layout/process1"/>
    <dgm:cxn modelId="{E02D21EC-7BAB-4B52-B69A-8167DE36B889}" type="presOf" srcId="{5E823633-6A7E-42CE-AF6A-EEE29DB012BB}" destId="{9A4262CE-EC0B-463B-8EF5-FCDECE50DE51}" srcOrd="1" destOrd="0" presId="urn:microsoft.com/office/officeart/2005/8/layout/process1"/>
    <dgm:cxn modelId="{CE33BE74-F09B-4A24-A480-3F8589FFA49F}" type="presParOf" srcId="{ECDD4944-04E1-439B-868E-4E1E181A69C0}" destId="{B63D99FD-5469-49A2-AF3F-6047AEBE8228}" srcOrd="0" destOrd="0" presId="urn:microsoft.com/office/officeart/2005/8/layout/process1"/>
    <dgm:cxn modelId="{D636208E-81F0-43D3-AD0B-7896E68674CD}" type="presParOf" srcId="{ECDD4944-04E1-439B-868E-4E1E181A69C0}" destId="{63C7A3C7-DC15-4818-B93A-5CD4061D2327}" srcOrd="1" destOrd="0" presId="urn:microsoft.com/office/officeart/2005/8/layout/process1"/>
    <dgm:cxn modelId="{9F7B15DA-FF4C-4445-B8A9-BF6490BA9019}" type="presParOf" srcId="{63C7A3C7-DC15-4818-B93A-5CD4061D2327}" destId="{9A4262CE-EC0B-463B-8EF5-FCDECE50DE51}" srcOrd="0" destOrd="0" presId="urn:microsoft.com/office/officeart/2005/8/layout/process1"/>
    <dgm:cxn modelId="{C93FB686-6889-479E-BA9C-8FEB6965082F}" type="presParOf" srcId="{ECDD4944-04E1-439B-868E-4E1E181A69C0}" destId="{E73FC3B7-713E-4A62-A7E5-C4DFAC1C6876}" srcOrd="2" destOrd="0" presId="urn:microsoft.com/office/officeart/2005/8/layout/process1"/>
    <dgm:cxn modelId="{9BA0D95C-409F-43D2-A283-DE769E3C8B59}" type="presParOf" srcId="{ECDD4944-04E1-439B-868E-4E1E181A69C0}" destId="{364828EA-BDD2-481E-98E1-37594AEA0D2C}" srcOrd="3" destOrd="0" presId="urn:microsoft.com/office/officeart/2005/8/layout/process1"/>
    <dgm:cxn modelId="{F6B8200E-672D-4195-9212-EFD397DF5476}" type="presParOf" srcId="{364828EA-BDD2-481E-98E1-37594AEA0D2C}" destId="{268F1CAB-7084-4119-A347-754C49778CDC}" srcOrd="0" destOrd="0" presId="urn:microsoft.com/office/officeart/2005/8/layout/process1"/>
    <dgm:cxn modelId="{D0C28573-9BF1-4A72-8958-F3ACBA8B8E08}" type="presParOf" srcId="{ECDD4944-04E1-439B-868E-4E1E181A69C0}" destId="{43F1CFF9-CE08-45B6-ADD1-9095D1B0A971}" srcOrd="4" destOrd="0" presId="urn:microsoft.com/office/officeart/2005/8/layout/process1"/>
    <dgm:cxn modelId="{772C1FEE-8A32-427D-9EA3-7D6D0A728B0F}" type="presParOf" srcId="{ECDD4944-04E1-439B-868E-4E1E181A69C0}" destId="{AA1973D7-8182-47AA-9AFD-D8E48FCDAD99}" srcOrd="5" destOrd="0" presId="urn:microsoft.com/office/officeart/2005/8/layout/process1"/>
    <dgm:cxn modelId="{3EDE747F-140F-4787-9BE1-BC1D3105B98E}" type="presParOf" srcId="{AA1973D7-8182-47AA-9AFD-D8E48FCDAD99}" destId="{F6F10FDC-9A32-4885-948F-AFF6EF270FE7}" srcOrd="0" destOrd="0" presId="urn:microsoft.com/office/officeart/2005/8/layout/process1"/>
    <dgm:cxn modelId="{3EF69E2E-A8F3-4CEE-B794-E8D28C48BC8B}" type="presParOf" srcId="{ECDD4944-04E1-439B-868E-4E1E181A69C0}" destId="{707771B7-A39D-4352-99A5-2D7B8FD862BA}"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3D99FD-5469-49A2-AF3F-6047AEBE8228}">
      <dsp:nvSpPr>
        <dsp:cNvPr id="0" name=""/>
        <dsp:cNvSpPr/>
      </dsp:nvSpPr>
      <dsp:spPr>
        <a:xfrm>
          <a:off x="3953" y="75817"/>
          <a:ext cx="1728578" cy="2526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defRPr cap="all"/>
          </a:pPr>
          <a:r>
            <a:rPr lang="en-US" sz="1000" b="1" i="0" kern="1200" baseline="0"/>
            <a:t>The generative AI journey </a:t>
          </a:r>
          <a:endParaRPr lang="en-US" sz="1000" kern="1200"/>
        </a:p>
      </dsp:txBody>
      <dsp:txXfrm>
        <a:off x="54581" y="126445"/>
        <a:ext cx="1627322" cy="2424764"/>
      </dsp:txXfrm>
    </dsp:sp>
    <dsp:sp modelId="{63C7A3C7-DC15-4818-B93A-5CD4061D2327}">
      <dsp:nvSpPr>
        <dsp:cNvPr id="0" name=""/>
        <dsp:cNvSpPr/>
      </dsp:nvSpPr>
      <dsp:spPr>
        <a:xfrm>
          <a:off x="1905390" y="1124484"/>
          <a:ext cx="366458" cy="4286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905390" y="1210221"/>
        <a:ext cx="256521" cy="257213"/>
      </dsp:txXfrm>
    </dsp:sp>
    <dsp:sp modelId="{E73FC3B7-713E-4A62-A7E5-C4DFAC1C6876}">
      <dsp:nvSpPr>
        <dsp:cNvPr id="0" name=""/>
        <dsp:cNvSpPr/>
      </dsp:nvSpPr>
      <dsp:spPr>
        <a:xfrm>
          <a:off x="2423963" y="75817"/>
          <a:ext cx="1728578" cy="2526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defRPr cap="all"/>
          </a:pPr>
          <a:r>
            <a:rPr lang="en-US" sz="1000" b="0" i="0" kern="1200" baseline="0"/>
            <a:t>The generative AI journey is not necessarily a straightforward path. </a:t>
          </a:r>
          <a:endParaRPr lang="en-US" sz="1000" kern="1200"/>
        </a:p>
      </dsp:txBody>
      <dsp:txXfrm>
        <a:off x="2474591" y="126445"/>
        <a:ext cx="1627322" cy="2424764"/>
      </dsp:txXfrm>
    </dsp:sp>
    <dsp:sp modelId="{364828EA-BDD2-481E-98E1-37594AEA0D2C}">
      <dsp:nvSpPr>
        <dsp:cNvPr id="0" name=""/>
        <dsp:cNvSpPr/>
      </dsp:nvSpPr>
      <dsp:spPr>
        <a:xfrm>
          <a:off x="4325400" y="1124484"/>
          <a:ext cx="366458" cy="4286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325400" y="1210221"/>
        <a:ext cx="256521" cy="257213"/>
      </dsp:txXfrm>
    </dsp:sp>
    <dsp:sp modelId="{43F1CFF9-CE08-45B6-ADD1-9095D1B0A971}">
      <dsp:nvSpPr>
        <dsp:cNvPr id="0" name=""/>
        <dsp:cNvSpPr/>
      </dsp:nvSpPr>
      <dsp:spPr>
        <a:xfrm>
          <a:off x="4843973" y="75817"/>
          <a:ext cx="1728578" cy="2526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defRPr cap="all"/>
          </a:pPr>
          <a:r>
            <a:rPr lang="en-US" sz="1000" b="0" i="0" kern="1200" baseline="0"/>
            <a:t>Achieving success with generative AI requires more than great technology—it also means ensuring the organization is aligned to the right goals. </a:t>
          </a:r>
          <a:endParaRPr lang="en-US" sz="1000" kern="1200"/>
        </a:p>
      </dsp:txBody>
      <dsp:txXfrm>
        <a:off x="4894601" y="126445"/>
        <a:ext cx="1627322" cy="2424764"/>
      </dsp:txXfrm>
    </dsp:sp>
    <dsp:sp modelId="{AA1973D7-8182-47AA-9AFD-D8E48FCDAD99}">
      <dsp:nvSpPr>
        <dsp:cNvPr id="0" name=""/>
        <dsp:cNvSpPr/>
      </dsp:nvSpPr>
      <dsp:spPr>
        <a:xfrm>
          <a:off x="6745410" y="1124484"/>
          <a:ext cx="366458" cy="4286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6745410" y="1210221"/>
        <a:ext cx="256521" cy="257213"/>
      </dsp:txXfrm>
    </dsp:sp>
    <dsp:sp modelId="{707771B7-A39D-4352-99A5-2D7B8FD862BA}">
      <dsp:nvSpPr>
        <dsp:cNvPr id="0" name=""/>
        <dsp:cNvSpPr/>
      </dsp:nvSpPr>
      <dsp:spPr>
        <a:xfrm>
          <a:off x="7263983" y="75817"/>
          <a:ext cx="1728578" cy="2526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defRPr cap="all"/>
          </a:pPr>
          <a:r>
            <a:rPr lang="en-US" sz="1000" b="0" i="0" kern="1200" baseline="0"/>
            <a:t>Identifying and reaching those goals will necessitate broad changes in processes, management, and culture. The next sections will explore how organizations can overcome common challenges that often impede progress and take the right steps to implement </a:t>
          </a:r>
          <a:endParaRPr lang="en-US" sz="1000" kern="1200"/>
        </a:p>
      </dsp:txBody>
      <dsp:txXfrm>
        <a:off x="7314611" y="126445"/>
        <a:ext cx="1627322" cy="242476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352D-AF27-8A1C-9C80-C7AA232C34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EECFF7-0B60-0680-504F-4067B2B4C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4F87AD-E636-B174-6725-90A411E3A87B}"/>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5" name="Footer Placeholder 4">
            <a:extLst>
              <a:ext uri="{FF2B5EF4-FFF2-40B4-BE49-F238E27FC236}">
                <a16:creationId xmlns:a16="http://schemas.microsoft.com/office/drawing/2014/main" id="{0285E24B-4911-412A-2926-04A3D4B7A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99982-CC7D-40D6-D10B-11E98861BE32}"/>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1448220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78E34-5EFA-4858-124C-E617CD6C4D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8B5982-3413-AB28-279E-36C8F977F8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8AD7D-D0B1-21F0-3B5F-CEC0705DA8FA}"/>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5" name="Footer Placeholder 4">
            <a:extLst>
              <a:ext uri="{FF2B5EF4-FFF2-40B4-BE49-F238E27FC236}">
                <a16:creationId xmlns:a16="http://schemas.microsoft.com/office/drawing/2014/main" id="{82D552AE-A05E-BE3C-2B75-62B87F30B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20EEF-BA1F-2312-8BED-68F20897FA97}"/>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1059570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1A56-126F-E950-B701-B6F6F5D8F8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84F59B-6604-A666-53E2-7B0DD85ABE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ABA485-00AE-F46E-97DC-B804246460E8}"/>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5" name="Footer Placeholder 4">
            <a:extLst>
              <a:ext uri="{FF2B5EF4-FFF2-40B4-BE49-F238E27FC236}">
                <a16:creationId xmlns:a16="http://schemas.microsoft.com/office/drawing/2014/main" id="{3202BE10-20CE-BABF-B805-4EBD608CD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9AE8F3-2166-F581-8294-058E6C728379}"/>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56170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1BF7-84C0-0B07-A5F7-CE58E739C2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55F6A1-957B-4486-A76A-2FEBF4CCF3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4CE89-7BAF-2157-FEC7-D4ED05D6D7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A95BCC-A345-BF64-BE59-427E31288A8F}"/>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6" name="Footer Placeholder 5">
            <a:extLst>
              <a:ext uri="{FF2B5EF4-FFF2-40B4-BE49-F238E27FC236}">
                <a16:creationId xmlns:a16="http://schemas.microsoft.com/office/drawing/2014/main" id="{A23F054D-93C9-3F27-EF35-6B33D3E34A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2B84C-A5F7-28AB-7908-3CD5919B5F09}"/>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1320073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CC3E-1ECD-22B7-7777-E2BB9D7881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A4D984-BC78-93FF-C9FC-A1648C0079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384EB3-D539-6D7C-2EB8-8907D8A724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E97B32-DFE0-DB60-2ADF-A0F38F8ED3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326FE8-8404-4C44-EF46-F5ED95C5BE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08CC2B-CE31-36E8-635D-D9631E8A01F1}"/>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8" name="Footer Placeholder 7">
            <a:extLst>
              <a:ext uri="{FF2B5EF4-FFF2-40B4-BE49-F238E27FC236}">
                <a16:creationId xmlns:a16="http://schemas.microsoft.com/office/drawing/2014/main" id="{9FFE940A-6E8B-2688-D363-5F0EAEE683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3B45CE-22D8-B9AA-EDF7-7D9B6438552C}"/>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2152863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8C88-21C8-D649-9091-EA66902B5B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A530BF-8836-F90C-CE2F-7917170F3BAC}"/>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4" name="Footer Placeholder 3">
            <a:extLst>
              <a:ext uri="{FF2B5EF4-FFF2-40B4-BE49-F238E27FC236}">
                <a16:creationId xmlns:a16="http://schemas.microsoft.com/office/drawing/2014/main" id="{A4657F08-4B06-83F2-4B6E-BD28C974D8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C9A2F9-F340-92AC-F161-CE45DB283C68}"/>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3833839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6AABE1-F287-AFA6-24F0-9A48A4A31C7C}"/>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3" name="Footer Placeholder 2">
            <a:extLst>
              <a:ext uri="{FF2B5EF4-FFF2-40B4-BE49-F238E27FC236}">
                <a16:creationId xmlns:a16="http://schemas.microsoft.com/office/drawing/2014/main" id="{2CD005E1-0D78-BDAA-27A6-F601BFA1B3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8C3BE8-F98A-0412-D8D1-5AA167D843D7}"/>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3038247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5F1E-B049-B5AB-06BF-B1C547BCB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967E66-F203-B0B5-ED21-242AC2A60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D79B7C-09BB-54FC-4695-D20A2B4E19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48EB5-F80C-F66B-AFF7-EA85914A0416}"/>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6" name="Footer Placeholder 5">
            <a:extLst>
              <a:ext uri="{FF2B5EF4-FFF2-40B4-BE49-F238E27FC236}">
                <a16:creationId xmlns:a16="http://schemas.microsoft.com/office/drawing/2014/main" id="{F5D7CFDD-E7BC-0C6E-406A-72986A001C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243DB7-9301-DE04-2E40-E17DFD22296E}"/>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116561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97144-2F92-F724-0B08-8A2D0846F5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335FB3-A39F-9E2F-9A57-B7FABBC8C7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168BEE-B0AA-D4B6-553F-E3747EDCF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7D70B8-97A0-C7FE-DA2D-99A41F948CD4}"/>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6" name="Footer Placeholder 5">
            <a:extLst>
              <a:ext uri="{FF2B5EF4-FFF2-40B4-BE49-F238E27FC236}">
                <a16:creationId xmlns:a16="http://schemas.microsoft.com/office/drawing/2014/main" id="{94193E4A-10E8-0DB3-830C-4962362C2B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90A4A3-5FAB-5597-1022-16CE70C84176}"/>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417223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3577C-565A-E210-162D-AA843D110A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255DC1-ECB6-F79E-DEE8-012D947A7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E60D4-BD9A-BDB9-F6A8-7DFF68B23A2C}"/>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5" name="Footer Placeholder 4">
            <a:extLst>
              <a:ext uri="{FF2B5EF4-FFF2-40B4-BE49-F238E27FC236}">
                <a16:creationId xmlns:a16="http://schemas.microsoft.com/office/drawing/2014/main" id="{1EF1959E-BAEC-D283-BDAC-62E22D72A5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AD6175-7A4C-F179-8CDF-31B5BA8091BB}"/>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1617219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ADE7E-2A5D-CC47-E778-28E501B676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9D8B6C-6824-7FD2-C1A2-F06BB6084A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85E42-0A45-B02B-E418-DA133910F4D8}"/>
              </a:ext>
            </a:extLst>
          </p:cNvPr>
          <p:cNvSpPr>
            <a:spLocks noGrp="1"/>
          </p:cNvSpPr>
          <p:nvPr>
            <p:ph type="dt" sz="half" idx="10"/>
          </p:nvPr>
        </p:nvSpPr>
        <p:spPr/>
        <p:txBody>
          <a:bodyPr/>
          <a:lstStyle/>
          <a:p>
            <a:fld id="{FBD66F0B-B7F2-4936-87E6-78AD060BF0E9}" type="datetimeFigureOut">
              <a:rPr lang="en-US" smtClean="0"/>
              <a:t>6/10/2024</a:t>
            </a:fld>
            <a:endParaRPr lang="en-US"/>
          </a:p>
        </p:txBody>
      </p:sp>
      <p:sp>
        <p:nvSpPr>
          <p:cNvPr id="5" name="Footer Placeholder 4">
            <a:extLst>
              <a:ext uri="{FF2B5EF4-FFF2-40B4-BE49-F238E27FC236}">
                <a16:creationId xmlns:a16="http://schemas.microsoft.com/office/drawing/2014/main" id="{2FFDF33F-1BE5-249E-7546-25B3B1F15B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0D173E-E875-3588-3646-417DFBDF9C1D}"/>
              </a:ext>
            </a:extLst>
          </p:cNvPr>
          <p:cNvSpPr>
            <a:spLocks noGrp="1"/>
          </p:cNvSpPr>
          <p:nvPr>
            <p:ph type="sldNum" sz="quarter" idx="12"/>
          </p:nvPr>
        </p:nvSpPr>
        <p:spPr/>
        <p:txBody>
          <a:bodyPr/>
          <a:lstStyle/>
          <a:p>
            <a:fld id="{13D433E1-0E7A-4EE5-9EB3-6AD49FA0B8C7}" type="slidenum">
              <a:rPr lang="en-US" smtClean="0"/>
              <a:t>‹#›</a:t>
            </a:fld>
            <a:endParaRPr lang="en-US"/>
          </a:p>
        </p:txBody>
      </p:sp>
    </p:spTree>
    <p:extLst>
      <p:ext uri="{BB962C8B-B14F-4D97-AF65-F5344CB8AC3E}">
        <p14:creationId xmlns:p14="http://schemas.microsoft.com/office/powerpoint/2010/main" val="1686635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6C630-3EE5-7B6B-7E4C-014E27C2C3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234456-E338-49B7-6767-CA0F0A4168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F212D-75B9-F10E-B717-5797894467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D66F0B-B7F2-4936-87E6-78AD060BF0E9}" type="datetimeFigureOut">
              <a:rPr lang="en-US" smtClean="0"/>
              <a:t>6/10/2024</a:t>
            </a:fld>
            <a:endParaRPr lang="en-US"/>
          </a:p>
        </p:txBody>
      </p:sp>
      <p:sp>
        <p:nvSpPr>
          <p:cNvPr id="5" name="Footer Placeholder 4">
            <a:extLst>
              <a:ext uri="{FF2B5EF4-FFF2-40B4-BE49-F238E27FC236}">
                <a16:creationId xmlns:a16="http://schemas.microsoft.com/office/drawing/2014/main" id="{CAA139E1-4E8A-8EEB-A8AD-381E3EBA88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CE4339-09E1-AEDB-EE8B-C7E68DDD38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D433E1-0E7A-4EE5-9EB3-6AD49FA0B8C7}" type="slidenum">
              <a:rPr lang="en-US" smtClean="0"/>
              <a:t>‹#›</a:t>
            </a:fld>
            <a:endParaRPr lang="en-US"/>
          </a:p>
        </p:txBody>
      </p:sp>
    </p:spTree>
    <p:extLst>
      <p:ext uri="{BB962C8B-B14F-4D97-AF65-F5344CB8AC3E}">
        <p14:creationId xmlns:p14="http://schemas.microsoft.com/office/powerpoint/2010/main" val="3554532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s head with a brain and lines&#10;&#10;Description automatically generated">
            <a:extLst>
              <a:ext uri="{FF2B5EF4-FFF2-40B4-BE49-F238E27FC236}">
                <a16:creationId xmlns:a16="http://schemas.microsoft.com/office/drawing/2014/main" id="{3AFD3CF6-62A8-55E4-FF35-3C8F1550568C}"/>
              </a:ext>
            </a:extLst>
          </p:cNvPr>
          <p:cNvPicPr>
            <a:picLocks noChangeAspect="1"/>
          </p:cNvPicPr>
          <p:nvPr/>
        </p:nvPicPr>
        <p:blipFill rotWithShape="1">
          <a:blip r:embed="rId2">
            <a:extLst>
              <a:ext uri="{28A0092B-C50C-407E-A947-70E740481C1C}">
                <a14:useLocalDpi xmlns:a14="http://schemas.microsoft.com/office/drawing/2010/main" val="0"/>
              </a:ext>
            </a:extLst>
          </a:blip>
          <a:srcRect l="22865" t="3555" r="28372" b="-1"/>
          <a:stretch/>
        </p:blipFill>
        <p:spPr>
          <a:xfrm>
            <a:off x="3523488" y="10"/>
            <a:ext cx="8668512" cy="6857990"/>
          </a:xfrm>
          <a:prstGeom prst="rect">
            <a:avLst/>
          </a:prstGeom>
        </p:spPr>
      </p:pic>
      <p:sp>
        <p:nvSpPr>
          <p:cNvPr id="24" name="Rectangle 23">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3781C2-D2FC-17FC-3971-EB677E00498E}"/>
              </a:ext>
            </a:extLst>
          </p:cNvPr>
          <p:cNvSpPr>
            <a:spLocks noGrp="1"/>
          </p:cNvSpPr>
          <p:nvPr>
            <p:ph type="ctrTitle"/>
          </p:nvPr>
        </p:nvSpPr>
        <p:spPr>
          <a:xfrm>
            <a:off x="477981" y="1122363"/>
            <a:ext cx="4023360" cy="3204134"/>
          </a:xfrm>
        </p:spPr>
        <p:txBody>
          <a:bodyPr anchor="b">
            <a:normAutofit/>
          </a:bodyPr>
          <a:lstStyle/>
          <a:p>
            <a:pPr algn="l"/>
            <a:r>
              <a:rPr lang="en-US" sz="4400">
                <a:solidFill>
                  <a:schemeClr val="bg1"/>
                </a:solidFill>
              </a:rPr>
              <a:t>GENERATIVE AI</a:t>
            </a:r>
          </a:p>
        </p:txBody>
      </p:sp>
      <p:sp>
        <p:nvSpPr>
          <p:cNvPr id="3" name="Subtitle 2">
            <a:extLst>
              <a:ext uri="{FF2B5EF4-FFF2-40B4-BE49-F238E27FC236}">
                <a16:creationId xmlns:a16="http://schemas.microsoft.com/office/drawing/2014/main" id="{21F8F5A1-B158-A1BE-B174-10DA757A721D}"/>
              </a:ext>
            </a:extLst>
          </p:cNvPr>
          <p:cNvSpPr>
            <a:spLocks noGrp="1"/>
          </p:cNvSpPr>
          <p:nvPr>
            <p:ph type="subTitle" idx="1"/>
          </p:nvPr>
        </p:nvSpPr>
        <p:spPr>
          <a:xfrm>
            <a:off x="477980" y="4872922"/>
            <a:ext cx="4023359" cy="1208141"/>
          </a:xfrm>
        </p:spPr>
        <p:txBody>
          <a:bodyPr>
            <a:normAutofit/>
          </a:bodyPr>
          <a:lstStyle/>
          <a:p>
            <a:pPr algn="l"/>
            <a:r>
              <a:rPr lang="en-US" sz="2000">
                <a:solidFill>
                  <a:schemeClr val="bg1"/>
                </a:solidFill>
              </a:rPr>
              <a:t>   PAVAN APPANI</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8730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67A332-C812-9775-1FA2-D62718E5DACB}"/>
              </a:ext>
            </a:extLst>
          </p:cNvPr>
          <p:cNvSpPr txBox="1"/>
          <p:nvPr/>
        </p:nvSpPr>
        <p:spPr>
          <a:xfrm>
            <a:off x="1435510" y="192065"/>
            <a:ext cx="9320980" cy="3323987"/>
          </a:xfrm>
          <a:prstGeom prst="rect">
            <a:avLst/>
          </a:prstGeom>
          <a:noFill/>
        </p:spPr>
        <p:txBody>
          <a:bodyPr wrap="square">
            <a:spAutoFit/>
          </a:bodyPr>
          <a:lstStyle/>
          <a:p>
            <a:r>
              <a:rPr lang="en-US" sz="4800" b="1" i="0" u="none" strike="noStrike" baseline="0" dirty="0">
                <a:solidFill>
                  <a:srgbClr val="242F3E"/>
                </a:solidFill>
                <a:latin typeface="Amazon Ember Display"/>
              </a:rPr>
              <a:t>Why generative AI?</a:t>
            </a:r>
            <a:endParaRPr lang="en-US" sz="4800" b="0" i="0" u="none" strike="noStrike" baseline="0" dirty="0">
              <a:solidFill>
                <a:srgbClr val="242F3E"/>
              </a:solidFill>
              <a:latin typeface="Amazon Ember Display"/>
            </a:endParaRPr>
          </a:p>
          <a:p>
            <a:r>
              <a:rPr lang="en-US" sz="1800" b="0" i="0" u="none" strike="noStrike" baseline="0" dirty="0">
                <a:solidFill>
                  <a:srgbClr val="242F3E"/>
                </a:solidFill>
                <a:latin typeface="Amazon Ember"/>
              </a:rPr>
              <a:t>Before diving into the steps of your generative AI journey, let’s explore why businesses should begin their journey in the first place. According to Goldman Sachs, generative AI could drive a 7 percent (or almost $7 trillion) increase in global GDP and lift productivity growth by 1.5 percentage points over a 10-year period.</a:t>
            </a:r>
            <a:r>
              <a:rPr lang="en-US" sz="800" b="0" i="0" u="none" strike="noStrike" baseline="0" dirty="0">
                <a:solidFill>
                  <a:srgbClr val="242F3E"/>
                </a:solidFill>
                <a:latin typeface="Amazon Ember"/>
              </a:rPr>
              <a:t>2 </a:t>
            </a:r>
            <a:r>
              <a:rPr lang="en-US" sz="1800" b="0" i="0" u="none" strike="noStrike" baseline="0" dirty="0">
                <a:solidFill>
                  <a:srgbClr val="242F3E"/>
                </a:solidFill>
                <a:latin typeface="Amazon Ember"/>
              </a:rPr>
              <a:t>Globally, we have reached an inflection point where most customer experiences and applications will be reinvented with generative AI. </a:t>
            </a:r>
          </a:p>
          <a:p>
            <a:r>
              <a:rPr lang="en-US" sz="1800" b="0" i="0" u="none" strike="noStrike" baseline="0" dirty="0">
                <a:solidFill>
                  <a:srgbClr val="242F3E"/>
                </a:solidFill>
                <a:latin typeface="Amazon Ember"/>
              </a:rPr>
              <a:t>Developing a strategy that includes generative AI initiatives is imperative to ensure successful business outcomes. Even after completing the steps outlined in this eBook, a business will need to regularly remind itself what it’s working toward—staying focused on the precise business benefits that can be unlocked by fully leveraging generative AI technology. </a:t>
            </a:r>
            <a:endParaRPr lang="en-US" dirty="0"/>
          </a:p>
        </p:txBody>
      </p:sp>
      <p:sp>
        <p:nvSpPr>
          <p:cNvPr id="5" name="TextBox 4">
            <a:extLst>
              <a:ext uri="{FF2B5EF4-FFF2-40B4-BE49-F238E27FC236}">
                <a16:creationId xmlns:a16="http://schemas.microsoft.com/office/drawing/2014/main" id="{39B99429-6F66-2A96-C6A5-314D28A65DD5}"/>
              </a:ext>
            </a:extLst>
          </p:cNvPr>
          <p:cNvSpPr txBox="1"/>
          <p:nvPr/>
        </p:nvSpPr>
        <p:spPr>
          <a:xfrm>
            <a:off x="1435510" y="3744864"/>
            <a:ext cx="9320980" cy="1631216"/>
          </a:xfrm>
          <a:prstGeom prst="rect">
            <a:avLst/>
          </a:prstGeom>
          <a:noFill/>
        </p:spPr>
        <p:txBody>
          <a:bodyPr wrap="square">
            <a:spAutoFit/>
          </a:bodyPr>
          <a:lstStyle/>
          <a:p>
            <a:r>
              <a:rPr lang="en-US" sz="2800" b="1" i="0" u="none" strike="noStrike" baseline="0" dirty="0">
                <a:solidFill>
                  <a:srgbClr val="222E3D"/>
                </a:solidFill>
                <a:latin typeface="Amazon Ember Display"/>
              </a:rPr>
              <a:t>Boosting employee productivity</a:t>
            </a:r>
            <a:endParaRPr lang="en-US" sz="2800" b="0" i="0" u="none" strike="noStrike" baseline="0" dirty="0">
              <a:solidFill>
                <a:srgbClr val="222E3D"/>
              </a:solidFill>
              <a:latin typeface="Amazon Ember Display"/>
            </a:endParaRPr>
          </a:p>
          <a:p>
            <a:r>
              <a:rPr lang="en-US" sz="1800" b="0" i="0" u="none" strike="noStrike" baseline="0" dirty="0">
                <a:solidFill>
                  <a:srgbClr val="242F3E"/>
                </a:solidFill>
                <a:latin typeface="Amazon Ember"/>
              </a:rPr>
              <a:t>Generative AI is being leveraged for its transformative value to help AWS customers reach new levels of productivity. The latest advancements in generative AI can be used to increase employee productivity with the help of generative AI–powered conversational search, content creation, text summarization, and code generation. </a:t>
            </a:r>
            <a:endParaRPr lang="en-US" dirty="0"/>
          </a:p>
        </p:txBody>
      </p:sp>
    </p:spTree>
    <p:extLst>
      <p:ext uri="{BB962C8B-B14F-4D97-AF65-F5344CB8AC3E}">
        <p14:creationId xmlns:p14="http://schemas.microsoft.com/office/powerpoint/2010/main" val="1338620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A3443D-72CE-53FA-34F7-29A91155DA6C}"/>
              </a:ext>
            </a:extLst>
          </p:cNvPr>
          <p:cNvSpPr txBox="1"/>
          <p:nvPr/>
        </p:nvSpPr>
        <p:spPr>
          <a:xfrm>
            <a:off x="816077" y="560439"/>
            <a:ext cx="8327923" cy="3416320"/>
          </a:xfrm>
          <a:prstGeom prst="rect">
            <a:avLst/>
          </a:prstGeom>
          <a:noFill/>
        </p:spPr>
        <p:txBody>
          <a:bodyPr wrap="square">
            <a:spAutoFit/>
          </a:bodyPr>
          <a:lstStyle/>
          <a:p>
            <a:r>
              <a:rPr lang="en-US" sz="1800" b="0" i="0" u="none" strike="noStrike" baseline="0" dirty="0">
                <a:solidFill>
                  <a:srgbClr val="242F3E"/>
                </a:solidFill>
                <a:latin typeface="Amazon Ember"/>
              </a:rPr>
              <a:t>When deployed with the right strategy, generative artificial intelligence (AI) has the potential to change the anatomy of work. By streamlining work activities that absorb 60–70 percent of employee time, organizations can improve productivity down to the individual worker.</a:t>
            </a:r>
            <a:r>
              <a:rPr lang="en-US" sz="800" b="0" i="0" u="none" strike="noStrike" baseline="0" dirty="0">
                <a:solidFill>
                  <a:srgbClr val="242F3E"/>
                </a:solidFill>
                <a:latin typeface="Amazon Ember"/>
              </a:rPr>
              <a:t>1 </a:t>
            </a:r>
            <a:r>
              <a:rPr lang="en-US" sz="1800" b="0" i="0" u="none" strike="noStrike" baseline="0" dirty="0">
                <a:solidFill>
                  <a:srgbClr val="242F3E"/>
                </a:solidFill>
                <a:latin typeface="Amazon Ember"/>
              </a:rPr>
              <a:t>This can increase agility, streamline processes, boost revenue, and allow for better, faster decision making.</a:t>
            </a:r>
          </a:p>
          <a:p>
            <a:r>
              <a:rPr lang="en-US" sz="1800" b="0" i="0" u="none" strike="noStrike" baseline="0" dirty="0">
                <a:solidFill>
                  <a:srgbClr val="242F3E"/>
                </a:solidFill>
                <a:latin typeface="Amazon Ember"/>
              </a:rPr>
              <a:t>The lack of a single universally accepted playbook for generative AI success is keeping some businesses on the sidelines, unsure of how to take the next (or even the first) step on the AI journey. By democratizing generative AI, Amazon Web Services (AWS) is helping organizations overcome barriers to adoption and forge ahead with confidence. This eBook outlines a proven path—from taking the first step to measuring results—with insights from AWS best practices and its experience helping thousands of customers realize their own initiatives.</a:t>
            </a:r>
            <a:endParaRPr lang="en-US" dirty="0"/>
          </a:p>
        </p:txBody>
      </p:sp>
    </p:spTree>
    <p:extLst>
      <p:ext uri="{BB962C8B-B14F-4D97-AF65-F5344CB8AC3E}">
        <p14:creationId xmlns:p14="http://schemas.microsoft.com/office/powerpoint/2010/main" val="3864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B41350-2F29-A279-650C-B35DF4F452BB}"/>
              </a:ext>
            </a:extLst>
          </p:cNvPr>
          <p:cNvSpPr txBox="1"/>
          <p:nvPr/>
        </p:nvSpPr>
        <p:spPr>
          <a:xfrm>
            <a:off x="2212258" y="729734"/>
            <a:ext cx="6096000" cy="923330"/>
          </a:xfrm>
          <a:prstGeom prst="rect">
            <a:avLst/>
          </a:prstGeom>
          <a:noFill/>
        </p:spPr>
        <p:txBody>
          <a:bodyPr wrap="square">
            <a:spAutoFit/>
          </a:bodyPr>
          <a:lstStyle/>
          <a:p>
            <a:r>
              <a:rPr lang="en-US" sz="1800" b="1" i="0" u="none" strike="noStrike" baseline="0" dirty="0">
                <a:solidFill>
                  <a:srgbClr val="222E3D"/>
                </a:solidFill>
                <a:latin typeface="Amazon Ember Display"/>
              </a:rPr>
              <a:t>Improving customer experiences</a:t>
            </a:r>
          </a:p>
          <a:p>
            <a:r>
              <a:rPr lang="en-US" sz="1800" b="1" i="0" u="none" strike="noStrike" baseline="0" dirty="0">
                <a:solidFill>
                  <a:srgbClr val="222E3D"/>
                </a:solidFill>
                <a:latin typeface="Amazon Ember Display"/>
              </a:rPr>
              <a:t>Transforming content creation for greater creativity</a:t>
            </a:r>
            <a:endParaRPr lang="en-US" b="1" dirty="0">
              <a:solidFill>
                <a:srgbClr val="222E3D"/>
              </a:solidFill>
              <a:latin typeface="Amazon Ember Display"/>
            </a:endParaRPr>
          </a:p>
          <a:p>
            <a:r>
              <a:rPr lang="en-US" sz="1800" b="1" i="0" u="none" strike="noStrike" baseline="0" dirty="0">
                <a:solidFill>
                  <a:srgbClr val="222E3D"/>
                </a:solidFill>
                <a:latin typeface="Amazon Ember Display"/>
              </a:rPr>
              <a:t>Driving outcomes for real, competitive advantage </a:t>
            </a:r>
            <a:endParaRPr lang="en-US" dirty="0"/>
          </a:p>
        </p:txBody>
      </p:sp>
      <p:pic>
        <p:nvPicPr>
          <p:cNvPr id="7" name="Picture 6">
            <a:extLst>
              <a:ext uri="{FF2B5EF4-FFF2-40B4-BE49-F238E27FC236}">
                <a16:creationId xmlns:a16="http://schemas.microsoft.com/office/drawing/2014/main" id="{0287F964-0368-FA54-1C70-23BE551E0D00}"/>
              </a:ext>
            </a:extLst>
          </p:cNvPr>
          <p:cNvPicPr>
            <a:picLocks noChangeAspect="1"/>
          </p:cNvPicPr>
          <p:nvPr/>
        </p:nvPicPr>
        <p:blipFill>
          <a:blip r:embed="rId2"/>
          <a:stretch>
            <a:fillRect/>
          </a:stretch>
        </p:blipFill>
        <p:spPr>
          <a:xfrm>
            <a:off x="2074129" y="4329790"/>
            <a:ext cx="2674852" cy="1798476"/>
          </a:xfrm>
          <a:prstGeom prst="rect">
            <a:avLst/>
          </a:prstGeom>
        </p:spPr>
      </p:pic>
      <p:graphicFrame>
        <p:nvGraphicFramePr>
          <p:cNvPr id="9" name="TextBox 4">
            <a:extLst>
              <a:ext uri="{FF2B5EF4-FFF2-40B4-BE49-F238E27FC236}">
                <a16:creationId xmlns:a16="http://schemas.microsoft.com/office/drawing/2014/main" id="{77C7E0E9-FFC4-6E59-A316-4FD6D35A2120}"/>
              </a:ext>
            </a:extLst>
          </p:cNvPr>
          <p:cNvGraphicFramePr/>
          <p:nvPr/>
        </p:nvGraphicFramePr>
        <p:xfrm>
          <a:off x="1258528" y="1721890"/>
          <a:ext cx="8996516" cy="2677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011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D58B40-3088-F022-83FD-D36FF0578730}"/>
              </a:ext>
            </a:extLst>
          </p:cNvPr>
          <p:cNvSpPr txBox="1"/>
          <p:nvPr/>
        </p:nvSpPr>
        <p:spPr>
          <a:xfrm>
            <a:off x="383459" y="586147"/>
            <a:ext cx="9399638" cy="1477328"/>
          </a:xfrm>
          <a:prstGeom prst="rect">
            <a:avLst/>
          </a:prstGeom>
          <a:noFill/>
        </p:spPr>
        <p:txBody>
          <a:bodyPr wrap="square">
            <a:spAutoFit/>
          </a:bodyPr>
          <a:lstStyle/>
          <a:p>
            <a:r>
              <a:rPr lang="en-US" sz="1800" b="0" i="0" u="none" strike="noStrike" baseline="0" dirty="0">
                <a:solidFill>
                  <a:srgbClr val="242F3E"/>
                </a:solidFill>
                <a:latin typeface="Amazon Ember"/>
              </a:rPr>
              <a:t>Like with ML, data is an important piece of generative AI. While general large language models (LLMs) can be used “out of the box” for some use cases, when you want to build generative AI applications that are unique to your business needs, your organization’s data is your strategic asset. Data is the difference between a generic generative AI application and one that truly knows your business and your customer in order to deliver a better, more differentiated experience. </a:t>
            </a:r>
            <a:endParaRPr lang="en-US" dirty="0"/>
          </a:p>
        </p:txBody>
      </p:sp>
      <p:sp>
        <p:nvSpPr>
          <p:cNvPr id="5" name="TextBox 4">
            <a:extLst>
              <a:ext uri="{FF2B5EF4-FFF2-40B4-BE49-F238E27FC236}">
                <a16:creationId xmlns:a16="http://schemas.microsoft.com/office/drawing/2014/main" id="{0D2904DA-6AC9-4DC3-3416-39404450D998}"/>
              </a:ext>
            </a:extLst>
          </p:cNvPr>
          <p:cNvSpPr txBox="1"/>
          <p:nvPr/>
        </p:nvSpPr>
        <p:spPr>
          <a:xfrm>
            <a:off x="383458" y="2209203"/>
            <a:ext cx="9586451" cy="2954655"/>
          </a:xfrm>
          <a:prstGeom prst="rect">
            <a:avLst/>
          </a:prstGeom>
          <a:noFill/>
        </p:spPr>
        <p:txBody>
          <a:bodyPr wrap="square">
            <a:spAutoFit/>
          </a:bodyPr>
          <a:lstStyle/>
          <a:p>
            <a:r>
              <a:rPr lang="en-US" sz="1800" b="0" i="0" u="none" strike="noStrike" baseline="0" dirty="0">
                <a:solidFill>
                  <a:srgbClr val="242F3E"/>
                </a:solidFill>
                <a:latin typeface="Amazon Ember"/>
              </a:rPr>
              <a:t>While some companies will build and train their own LLMs with vast amounts of data, many more will use their organizational data to fine-tune FMs for their unique business needs or to add context to prompts through Retrieval Augmented Generation (RAG).</a:t>
            </a:r>
          </a:p>
          <a:p>
            <a:endParaRPr lang="en-US" dirty="0">
              <a:solidFill>
                <a:srgbClr val="242F3E"/>
              </a:solidFill>
              <a:latin typeface="Amazon Ember"/>
            </a:endParaRPr>
          </a:p>
          <a:p>
            <a:r>
              <a:rPr lang="en-US" sz="1800" b="0" i="0" u="none" strike="noStrike" baseline="0" dirty="0">
                <a:solidFill>
                  <a:srgbClr val="242F3E"/>
                </a:solidFill>
                <a:latin typeface="Amazon Ember"/>
              </a:rPr>
              <a:t> </a:t>
            </a:r>
            <a:r>
              <a:rPr lang="en-US" sz="2400" b="0" i="0" u="none" strike="noStrike" baseline="0" dirty="0">
                <a:solidFill>
                  <a:srgbClr val="242F3E"/>
                </a:solidFill>
                <a:highlight>
                  <a:srgbClr val="00FF00"/>
                </a:highlight>
                <a:latin typeface="Amazon Ember"/>
              </a:rPr>
              <a:t>For example, </a:t>
            </a:r>
            <a:r>
              <a:rPr lang="en-US" sz="1800" b="0" i="0" u="none" strike="noStrike" baseline="0" dirty="0">
                <a:solidFill>
                  <a:srgbClr val="242F3E"/>
                </a:solidFill>
                <a:highlight>
                  <a:srgbClr val="00FF00"/>
                </a:highlight>
                <a:latin typeface="Amazon Ember"/>
              </a:rPr>
              <a:t>you can use data from sources such as your data lake, database, and data warehouse to create a chatbot that can provide technical support for your products or a model that provides marketing copy trained on your best-performing ads</a:t>
            </a:r>
            <a:r>
              <a:rPr lang="en-US" dirty="0">
                <a:solidFill>
                  <a:srgbClr val="242F3E"/>
                </a:solidFill>
                <a:highlight>
                  <a:srgbClr val="00FF00"/>
                </a:highlight>
                <a:latin typeface="Amazon Ember"/>
              </a:rPr>
              <a:t>…</a:t>
            </a:r>
          </a:p>
          <a:p>
            <a:endParaRPr lang="en-US" sz="1800" b="0" i="0" u="none" strike="noStrike" baseline="0" dirty="0">
              <a:solidFill>
                <a:srgbClr val="242F3E"/>
              </a:solidFill>
              <a:highlight>
                <a:srgbClr val="00FF00"/>
              </a:highlight>
              <a:latin typeface="Amazon Ember"/>
            </a:endParaRPr>
          </a:p>
          <a:p>
            <a:r>
              <a:rPr lang="en-US" sz="1800" b="0" i="0" u="none" strike="noStrike" baseline="0" dirty="0">
                <a:solidFill>
                  <a:srgbClr val="242F3E"/>
                </a:solidFill>
                <a:latin typeface="Amazon Ember"/>
              </a:rPr>
              <a:t>success with generative AI requires relevant, high-quality data, which means that you need a strong data strategy in the cloud </a:t>
            </a:r>
            <a:endParaRPr lang="en-US" dirty="0">
              <a:highlight>
                <a:srgbClr val="00FF00"/>
              </a:highlight>
            </a:endParaRPr>
          </a:p>
        </p:txBody>
      </p:sp>
    </p:spTree>
    <p:extLst>
      <p:ext uri="{BB962C8B-B14F-4D97-AF65-F5344CB8AC3E}">
        <p14:creationId xmlns:p14="http://schemas.microsoft.com/office/powerpoint/2010/main" val="353063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C49D23-DA2B-8E81-0294-95F17096D79B}"/>
              </a:ext>
            </a:extLst>
          </p:cNvPr>
          <p:cNvSpPr txBox="1"/>
          <p:nvPr/>
        </p:nvSpPr>
        <p:spPr>
          <a:xfrm>
            <a:off x="1179870" y="881115"/>
            <a:ext cx="10323871" cy="1477328"/>
          </a:xfrm>
          <a:prstGeom prst="rect">
            <a:avLst/>
          </a:prstGeom>
          <a:noFill/>
        </p:spPr>
        <p:txBody>
          <a:bodyPr wrap="square">
            <a:spAutoFit/>
          </a:bodyPr>
          <a:lstStyle/>
          <a:p>
            <a:r>
              <a:rPr lang="en-US" sz="1800" b="0" i="0" u="none" strike="noStrike" baseline="0" dirty="0">
                <a:solidFill>
                  <a:srgbClr val="242F3E"/>
                </a:solidFill>
                <a:latin typeface="Amazon Ember"/>
              </a:rPr>
              <a:t>One mistake organizations often make in their AI journeys is employing discrete data scientists who work in silos to build models as proofs of concepts rather than solve real business problems. With no specific business problem to solve, IT executives will find it increasingly difficult to demonstrate the value of AI projects and initiatives to their business executive counterparts. This can stall or even stop progress on AI initiatives.</a:t>
            </a:r>
            <a:endParaRPr lang="en-US" dirty="0"/>
          </a:p>
        </p:txBody>
      </p:sp>
    </p:spTree>
    <p:extLst>
      <p:ext uri="{BB962C8B-B14F-4D97-AF65-F5344CB8AC3E}">
        <p14:creationId xmlns:p14="http://schemas.microsoft.com/office/powerpoint/2010/main" val="119908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5E153-0C1F-03E0-4A30-1F6E5C83CC29}"/>
              </a:ext>
            </a:extLst>
          </p:cNvPr>
          <p:cNvSpPr>
            <a:spLocks noGrp="1"/>
          </p:cNvSpPr>
          <p:nvPr>
            <p:ph type="title"/>
          </p:nvPr>
        </p:nvSpPr>
        <p:spPr>
          <a:xfrm>
            <a:off x="411480" y="991443"/>
            <a:ext cx="4443154" cy="1087819"/>
          </a:xfrm>
        </p:spPr>
        <p:txBody>
          <a:bodyPr anchor="b">
            <a:normAutofit/>
          </a:bodyPr>
          <a:lstStyle/>
          <a:p>
            <a:r>
              <a:rPr lang="en-US" sz="3400" dirty="0"/>
              <a:t>View on Neural network:</a:t>
            </a:r>
          </a:p>
        </p:txBody>
      </p:sp>
      <p:sp>
        <p:nvSpPr>
          <p:cNvPr id="3" name="Content Placeholder 2">
            <a:extLst>
              <a:ext uri="{FF2B5EF4-FFF2-40B4-BE49-F238E27FC236}">
                <a16:creationId xmlns:a16="http://schemas.microsoft.com/office/drawing/2014/main" id="{4DFE9D34-295A-892D-0690-908C5738A73D}"/>
              </a:ext>
            </a:extLst>
          </p:cNvPr>
          <p:cNvSpPr>
            <a:spLocks noGrp="1"/>
          </p:cNvSpPr>
          <p:nvPr>
            <p:ph idx="1"/>
          </p:nvPr>
        </p:nvSpPr>
        <p:spPr>
          <a:xfrm>
            <a:off x="417094" y="2510108"/>
            <a:ext cx="4703131" cy="3492868"/>
          </a:xfrm>
        </p:spPr>
        <p:txBody>
          <a:bodyPr>
            <a:normAutofit/>
          </a:bodyPr>
          <a:lstStyle/>
          <a:p>
            <a:r>
              <a:rPr lang="en-US" sz="1800" dirty="0"/>
              <a:t>Neural network form the base(basics) of deep learning. The neural network algorithms are inspired from the structure of human brain(neurons).</a:t>
            </a:r>
          </a:p>
          <a:p>
            <a:r>
              <a:rPr lang="en-US" sz="1800" dirty="0"/>
              <a:t>Neural network taken data train them selves to recognize the patterns in the data and predict the out put for a new set of similar data.</a:t>
            </a:r>
          </a:p>
          <a:p>
            <a:endParaRPr lang="en-US" sz="1800" dirty="0"/>
          </a:p>
        </p:txBody>
      </p:sp>
      <p:pic>
        <p:nvPicPr>
          <p:cNvPr id="5" name="Picture 4">
            <a:extLst>
              <a:ext uri="{FF2B5EF4-FFF2-40B4-BE49-F238E27FC236}">
                <a16:creationId xmlns:a16="http://schemas.microsoft.com/office/drawing/2014/main" id="{274462D9-C744-AA84-E7B6-E27074AA0BDC}"/>
              </a:ext>
            </a:extLst>
          </p:cNvPr>
          <p:cNvPicPr>
            <a:picLocks noChangeAspect="1"/>
          </p:cNvPicPr>
          <p:nvPr/>
        </p:nvPicPr>
        <p:blipFill>
          <a:blip r:embed="rId2"/>
          <a:stretch>
            <a:fillRect/>
          </a:stretch>
        </p:blipFill>
        <p:spPr>
          <a:xfrm>
            <a:off x="5385816" y="1750965"/>
            <a:ext cx="6440424" cy="3300716"/>
          </a:xfrm>
          <a:prstGeom prst="rect">
            <a:avLst/>
          </a:prstGeom>
        </p:spPr>
      </p:pic>
    </p:spTree>
    <p:extLst>
      <p:ext uri="{BB962C8B-B14F-4D97-AF65-F5344CB8AC3E}">
        <p14:creationId xmlns:p14="http://schemas.microsoft.com/office/powerpoint/2010/main" val="171984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BD7BC4-89C1-23F1-5439-12587EE56B2B}"/>
              </a:ext>
            </a:extLst>
          </p:cNvPr>
          <p:cNvPicPr>
            <a:picLocks noChangeAspect="1"/>
          </p:cNvPicPr>
          <p:nvPr/>
        </p:nvPicPr>
        <p:blipFill>
          <a:blip r:embed="rId2"/>
          <a:stretch>
            <a:fillRect/>
          </a:stretch>
        </p:blipFill>
        <p:spPr>
          <a:xfrm>
            <a:off x="4387008" y="512466"/>
            <a:ext cx="7666384" cy="4328535"/>
          </a:xfrm>
          <a:prstGeom prst="rect">
            <a:avLst/>
          </a:prstGeom>
        </p:spPr>
      </p:pic>
      <p:sp>
        <p:nvSpPr>
          <p:cNvPr id="9" name="TextBox 8">
            <a:extLst>
              <a:ext uri="{FF2B5EF4-FFF2-40B4-BE49-F238E27FC236}">
                <a16:creationId xmlns:a16="http://schemas.microsoft.com/office/drawing/2014/main" id="{4D84B124-E5A8-B0F6-C926-E688BB941916}"/>
              </a:ext>
            </a:extLst>
          </p:cNvPr>
          <p:cNvSpPr txBox="1"/>
          <p:nvPr/>
        </p:nvSpPr>
        <p:spPr>
          <a:xfrm>
            <a:off x="351692" y="512466"/>
            <a:ext cx="3760013" cy="3970318"/>
          </a:xfrm>
          <a:prstGeom prst="rect">
            <a:avLst/>
          </a:prstGeom>
          <a:noFill/>
        </p:spPr>
        <p:txBody>
          <a:bodyPr wrap="square" rtlCol="0">
            <a:spAutoFit/>
          </a:bodyPr>
          <a:lstStyle/>
          <a:p>
            <a:r>
              <a:rPr lang="en-US" dirty="0"/>
              <a:t>Neural network are made of layers of neurons these are core processing units of the network.</a:t>
            </a:r>
          </a:p>
          <a:p>
            <a:endParaRPr lang="en-US" dirty="0"/>
          </a:p>
          <a:p>
            <a:r>
              <a:rPr lang="en-US" b="1" u="sng" dirty="0"/>
              <a:t>Step 1 :</a:t>
            </a:r>
          </a:p>
          <a:p>
            <a:pPr marL="285750" indent="-285750">
              <a:buFont typeface="Arial" panose="020B0604020202020204" pitchFamily="34" charset="0"/>
              <a:buChar char="•"/>
            </a:pPr>
            <a:r>
              <a:rPr lang="en-US" dirty="0"/>
              <a:t>The first layer is  input layer which receives the input.</a:t>
            </a:r>
          </a:p>
          <a:p>
            <a:pPr marL="285750" indent="-285750">
              <a:buFont typeface="Arial" panose="020B0604020202020204" pitchFamily="34" charset="0"/>
              <a:buChar char="•"/>
            </a:pPr>
            <a:r>
              <a:rPr lang="en-US" dirty="0"/>
              <a:t>The last layer is output layer which predict the final output.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between there are layers which are hidden layers which perform, most of Computation required by the network. </a:t>
            </a:r>
          </a:p>
        </p:txBody>
      </p:sp>
    </p:spTree>
    <p:extLst>
      <p:ext uri="{BB962C8B-B14F-4D97-AF65-F5344CB8AC3E}">
        <p14:creationId xmlns:p14="http://schemas.microsoft.com/office/powerpoint/2010/main" val="427950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FE35-1AE0-1D63-7490-71E7FB31E18A}"/>
              </a:ext>
            </a:extLst>
          </p:cNvPr>
          <p:cNvSpPr>
            <a:spLocks noGrp="1"/>
          </p:cNvSpPr>
          <p:nvPr>
            <p:ph type="title"/>
          </p:nvPr>
        </p:nvSpPr>
        <p:spPr>
          <a:xfrm>
            <a:off x="839788" y="457200"/>
            <a:ext cx="3932237" cy="909484"/>
          </a:xfrm>
        </p:spPr>
        <p:txBody>
          <a:bodyPr/>
          <a:lstStyle/>
          <a:p>
            <a:endParaRPr lang="en-US" dirty="0"/>
          </a:p>
        </p:txBody>
      </p:sp>
      <p:pic>
        <p:nvPicPr>
          <p:cNvPr id="6" name="Content Placeholder 5">
            <a:extLst>
              <a:ext uri="{FF2B5EF4-FFF2-40B4-BE49-F238E27FC236}">
                <a16:creationId xmlns:a16="http://schemas.microsoft.com/office/drawing/2014/main" id="{5F644AEE-5B11-97B7-0701-3EE1BD223AF4}"/>
              </a:ext>
            </a:extLst>
          </p:cNvPr>
          <p:cNvPicPr>
            <a:picLocks noGrp="1" noChangeAspect="1"/>
          </p:cNvPicPr>
          <p:nvPr>
            <p:ph idx="1"/>
          </p:nvPr>
        </p:nvPicPr>
        <p:blipFill>
          <a:blip r:embed="rId2"/>
          <a:stretch>
            <a:fillRect/>
          </a:stretch>
        </p:blipFill>
        <p:spPr>
          <a:xfrm>
            <a:off x="5776112" y="1435158"/>
            <a:ext cx="6306863" cy="3547067"/>
          </a:xfrm>
        </p:spPr>
      </p:pic>
      <p:sp>
        <p:nvSpPr>
          <p:cNvPr id="4" name="Text Placeholder 3">
            <a:extLst>
              <a:ext uri="{FF2B5EF4-FFF2-40B4-BE49-F238E27FC236}">
                <a16:creationId xmlns:a16="http://schemas.microsoft.com/office/drawing/2014/main" id="{842E8F62-DCAA-200F-D4B9-FCE4B7BBB795}"/>
              </a:ext>
            </a:extLst>
          </p:cNvPr>
          <p:cNvSpPr>
            <a:spLocks noGrp="1"/>
          </p:cNvSpPr>
          <p:nvPr>
            <p:ph type="body" sz="half" idx="2"/>
          </p:nvPr>
        </p:nvSpPr>
        <p:spPr>
          <a:xfrm>
            <a:off x="839788" y="2057400"/>
            <a:ext cx="4538457" cy="2072148"/>
          </a:xfrm>
        </p:spPr>
        <p:txBody>
          <a:bodyPr/>
          <a:lstStyle/>
          <a:p>
            <a:r>
              <a:rPr lang="en-US" dirty="0"/>
              <a:t>The neurons of one layer are connected to neurons of another layer called channels, These channels are assigned to a numerical value read it as weight.</a:t>
            </a:r>
          </a:p>
          <a:p>
            <a:r>
              <a:rPr lang="en-US" dirty="0"/>
              <a:t>= Input * Weight</a:t>
            </a:r>
          </a:p>
          <a:p>
            <a:r>
              <a:rPr lang="en-US" dirty="0"/>
              <a:t>= no of inputs(X1st) * W1</a:t>
            </a:r>
            <a:br>
              <a:rPr lang="en-US" dirty="0"/>
            </a:br>
            <a:r>
              <a:rPr lang="en-US" dirty="0"/>
              <a:t>=(X1*wt.)+(X2*wt.)+(X3*wt.)</a:t>
            </a:r>
          </a:p>
        </p:txBody>
      </p:sp>
      <p:sp>
        <p:nvSpPr>
          <p:cNvPr id="7" name="TextBox 6">
            <a:extLst>
              <a:ext uri="{FF2B5EF4-FFF2-40B4-BE49-F238E27FC236}">
                <a16:creationId xmlns:a16="http://schemas.microsoft.com/office/drawing/2014/main" id="{8CCFE960-7597-7232-8D40-E65CDA2537DF}"/>
              </a:ext>
            </a:extLst>
          </p:cNvPr>
          <p:cNvSpPr txBox="1"/>
          <p:nvPr/>
        </p:nvSpPr>
        <p:spPr>
          <a:xfrm>
            <a:off x="668594" y="4129548"/>
            <a:ext cx="4896464" cy="923330"/>
          </a:xfrm>
          <a:prstGeom prst="rect">
            <a:avLst/>
          </a:prstGeom>
          <a:noFill/>
        </p:spPr>
        <p:txBody>
          <a:bodyPr wrap="square" rtlCol="0">
            <a:spAutoFit/>
          </a:bodyPr>
          <a:lstStyle/>
          <a:p>
            <a:r>
              <a:rPr lang="en-US" dirty="0"/>
              <a:t>These Neurons are associated to numerical value called bias.</a:t>
            </a:r>
            <a:br>
              <a:rPr lang="en-US" dirty="0"/>
            </a:br>
            <a:r>
              <a:rPr lang="en-US" dirty="0"/>
              <a:t>= (input*weight)+bias1</a:t>
            </a:r>
          </a:p>
        </p:txBody>
      </p:sp>
    </p:spTree>
    <p:extLst>
      <p:ext uri="{BB962C8B-B14F-4D97-AF65-F5344CB8AC3E}">
        <p14:creationId xmlns:p14="http://schemas.microsoft.com/office/powerpoint/2010/main" val="218358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25B14A3-6182-C04B-3E66-C869C183E928}"/>
              </a:ext>
            </a:extLst>
          </p:cNvPr>
          <p:cNvPicPr>
            <a:picLocks noChangeAspect="1"/>
          </p:cNvPicPr>
          <p:nvPr/>
        </p:nvPicPr>
        <p:blipFill>
          <a:blip r:embed="rId2"/>
          <a:stretch>
            <a:fillRect/>
          </a:stretch>
        </p:blipFill>
        <p:spPr>
          <a:xfrm>
            <a:off x="1494503" y="481781"/>
            <a:ext cx="8335904" cy="4355690"/>
          </a:xfrm>
          <a:prstGeom prst="rect">
            <a:avLst/>
          </a:prstGeom>
        </p:spPr>
      </p:pic>
    </p:spTree>
    <p:extLst>
      <p:ext uri="{BB962C8B-B14F-4D97-AF65-F5344CB8AC3E}">
        <p14:creationId xmlns:p14="http://schemas.microsoft.com/office/powerpoint/2010/main" val="133019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BA0A4D-ECE2-14D2-B7FD-1BD339698477}"/>
              </a:ext>
            </a:extLst>
          </p:cNvPr>
          <p:cNvSpPr txBox="1"/>
          <p:nvPr/>
        </p:nvSpPr>
        <p:spPr>
          <a:xfrm>
            <a:off x="904567" y="757083"/>
            <a:ext cx="9576620" cy="923330"/>
          </a:xfrm>
          <a:prstGeom prst="rect">
            <a:avLst/>
          </a:prstGeom>
          <a:noFill/>
        </p:spPr>
        <p:txBody>
          <a:bodyPr wrap="square" rtlCol="0">
            <a:spAutoFit/>
          </a:bodyPr>
          <a:lstStyle/>
          <a:p>
            <a:r>
              <a:rPr lang="en-US" dirty="0"/>
              <a:t>Neural networks are used in      face recognition.</a:t>
            </a:r>
          </a:p>
          <a:p>
            <a:r>
              <a:rPr lang="en-US" dirty="0"/>
              <a:t>                                                                  Weather forecast</a:t>
            </a:r>
          </a:p>
          <a:p>
            <a:r>
              <a:rPr lang="en-US" dirty="0"/>
              <a:t>                                                                 Prediction(stock)    </a:t>
            </a:r>
          </a:p>
        </p:txBody>
      </p:sp>
      <p:sp>
        <p:nvSpPr>
          <p:cNvPr id="3" name="TextBox 2">
            <a:extLst>
              <a:ext uri="{FF2B5EF4-FFF2-40B4-BE49-F238E27FC236}">
                <a16:creationId xmlns:a16="http://schemas.microsoft.com/office/drawing/2014/main" id="{1B0814B4-678E-114C-C077-23AC12E38D18}"/>
              </a:ext>
            </a:extLst>
          </p:cNvPr>
          <p:cNvSpPr txBox="1"/>
          <p:nvPr/>
        </p:nvSpPr>
        <p:spPr>
          <a:xfrm>
            <a:off x="904567" y="2192593"/>
            <a:ext cx="9576620" cy="1200329"/>
          </a:xfrm>
          <a:prstGeom prst="rect">
            <a:avLst/>
          </a:prstGeom>
          <a:noFill/>
        </p:spPr>
        <p:txBody>
          <a:bodyPr wrap="square" rtlCol="0">
            <a:spAutoFit/>
          </a:bodyPr>
          <a:lstStyle/>
          <a:p>
            <a:r>
              <a:rPr lang="en-US" dirty="0"/>
              <a:t>Newly building neural network by </a:t>
            </a:r>
          </a:p>
          <a:p>
            <a:r>
              <a:rPr lang="en-US" dirty="0"/>
              <a:t>                                           libraries</a:t>
            </a:r>
          </a:p>
          <a:p>
            <a:r>
              <a:rPr lang="en-US" dirty="0"/>
              <a:t>                                           Predictive models</a:t>
            </a:r>
          </a:p>
          <a:p>
            <a:r>
              <a:rPr lang="en-US" dirty="0"/>
              <a:t>                                            intuitive GPUs</a:t>
            </a:r>
          </a:p>
        </p:txBody>
      </p:sp>
    </p:spTree>
    <p:extLst>
      <p:ext uri="{BB962C8B-B14F-4D97-AF65-F5344CB8AC3E}">
        <p14:creationId xmlns:p14="http://schemas.microsoft.com/office/powerpoint/2010/main" val="764361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C1B75F-B3DD-4DC8-1C65-25DA3B88D5CC}"/>
              </a:ext>
            </a:extLst>
          </p:cNvPr>
          <p:cNvPicPr>
            <a:picLocks noChangeAspect="1"/>
          </p:cNvPicPr>
          <p:nvPr/>
        </p:nvPicPr>
        <p:blipFill rotWithShape="1">
          <a:blip r:embed="rId2"/>
          <a:srcRect t="9808"/>
          <a:stretch/>
        </p:blipFill>
        <p:spPr>
          <a:xfrm>
            <a:off x="838200" y="704765"/>
            <a:ext cx="10628376" cy="5440003"/>
          </a:xfrm>
          <a:prstGeom prst="rect">
            <a:avLst/>
          </a:prstGeom>
        </p:spPr>
      </p:pic>
    </p:spTree>
    <p:extLst>
      <p:ext uri="{BB962C8B-B14F-4D97-AF65-F5344CB8AC3E}">
        <p14:creationId xmlns:p14="http://schemas.microsoft.com/office/powerpoint/2010/main" val="3892367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960</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Amazon Ember</vt:lpstr>
      <vt:lpstr>Amazon Ember Display</vt:lpstr>
      <vt:lpstr>Arial</vt:lpstr>
      <vt:lpstr>Calibri</vt:lpstr>
      <vt:lpstr>Times New Roman</vt:lpstr>
      <vt:lpstr>Office Theme</vt:lpstr>
      <vt:lpstr>GENERATIVE AI</vt:lpstr>
      <vt:lpstr>PowerPoint Presentation</vt:lpstr>
      <vt:lpstr>PowerPoint Presentation</vt:lpstr>
      <vt:lpstr>PowerPoint Presentation</vt:lpstr>
      <vt:lpstr>PowerPoint Presentation</vt:lpstr>
      <vt:lpstr>PowerPoint Presentation</vt:lpstr>
      <vt:lpstr>View on Neural network:</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Achan</dc:creator>
  <cp:lastModifiedBy>akshay Achan</cp:lastModifiedBy>
  <cp:revision>1</cp:revision>
  <dcterms:created xsi:type="dcterms:W3CDTF">2024-06-10T20:15:26Z</dcterms:created>
  <dcterms:modified xsi:type="dcterms:W3CDTF">2024-06-10T21:40:51Z</dcterms:modified>
</cp:coreProperties>
</file>